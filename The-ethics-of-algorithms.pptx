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3" r:id="rId6"/>
    <p:sldId id="264" r:id="rId7"/>
    <p:sldId id="265" r:id="rId8"/>
    <p:sldId id="266" r:id="rId9"/>
    <p:sldId id="267" r:id="rId10"/>
    <p:sldId id="268" r:id="rId11"/>
    <p:sldId id="26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9" d="100"/>
          <a:sy n="79" d="100"/>
        </p:scale>
        <p:origin x="802"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l-GR"/>
              <a:t>Κάντε κλικ για να επεξεργαστείτε τον τίτλο υποδείγματος</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l-GR"/>
              <a:t>Κάντε κλικ για να επεξεργαστείτε τον υπότιτλο του υποδείγματος</a:t>
            </a:r>
            <a:endParaRPr lang="en-US" dirty="0"/>
          </a:p>
        </p:txBody>
      </p:sp>
      <p:sp>
        <p:nvSpPr>
          <p:cNvPr id="4" name="Date Placeholder 3"/>
          <p:cNvSpPr>
            <a:spLocks noGrp="1"/>
          </p:cNvSpPr>
          <p:nvPr>
            <p:ph type="dt" sz="half" idx="10"/>
          </p:nvPr>
        </p:nvSpPr>
        <p:spPr/>
        <p:txBody>
          <a:bodyPr/>
          <a:lstStyle/>
          <a:p>
            <a:fld id="{8D601AA8-2DD3-4483-9C48-AA3E46399C96}" type="datetimeFigureOut">
              <a:rPr lang="el-GR" smtClean="0"/>
              <a:pPr/>
              <a:t>8/5/2024</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3925693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7" name="Date Placeholder 3"/>
          <p:cNvSpPr>
            <a:spLocks noGrp="1"/>
          </p:cNvSpPr>
          <p:nvPr>
            <p:ph type="dt" sz="half" idx="10"/>
          </p:nvPr>
        </p:nvSpPr>
        <p:spPr/>
        <p:txBody>
          <a:bodyPr/>
          <a:lstStyle/>
          <a:p>
            <a:fld id="{8D601AA8-2DD3-4483-9C48-AA3E46399C96}" type="datetimeFigureOut">
              <a:rPr lang="el-GR" smtClean="0"/>
              <a:pPr/>
              <a:t>8/5/2024</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1721263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8D601AA8-2DD3-4483-9C48-AA3E46399C96}" type="datetimeFigureOut">
              <a:rPr lang="el-GR" smtClean="0"/>
              <a:pPr/>
              <a:t>8/5/2024</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336595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5" name="Date Placeholder 4"/>
          <p:cNvSpPr>
            <a:spLocks noGrp="1"/>
          </p:cNvSpPr>
          <p:nvPr>
            <p:ph type="dt" sz="half" idx="10"/>
          </p:nvPr>
        </p:nvSpPr>
        <p:spPr/>
        <p:txBody>
          <a:bodyPr/>
          <a:lstStyle/>
          <a:p>
            <a:fld id="{8D601AA8-2DD3-4483-9C48-AA3E46399C96}" type="datetimeFigureOut">
              <a:rPr lang="el-GR" smtClean="0"/>
              <a:pPr/>
              <a:t>8/5/2024</a:t>
            </a:fld>
            <a:endParaRPr lang="el-GR"/>
          </a:p>
        </p:txBody>
      </p:sp>
      <p:sp>
        <p:nvSpPr>
          <p:cNvPr id="6" name="Footer Placeholder 5"/>
          <p:cNvSpPr>
            <a:spLocks noGrp="1"/>
          </p:cNvSpPr>
          <p:nvPr>
            <p:ph type="ftr" sz="quarter" idx="11"/>
          </p:nvPr>
        </p:nvSpPr>
        <p:spPr/>
        <p:txBody>
          <a:bodyPr/>
          <a:lstStyle/>
          <a:p>
            <a:endParaRPr lang="el-GR"/>
          </a:p>
        </p:txBody>
      </p:sp>
      <p:sp>
        <p:nvSpPr>
          <p:cNvPr id="7" name="Slide Number Placeholder 6"/>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3829852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7" name="Date Placeholder 6"/>
          <p:cNvSpPr>
            <a:spLocks noGrp="1"/>
          </p:cNvSpPr>
          <p:nvPr>
            <p:ph type="dt" sz="half" idx="10"/>
          </p:nvPr>
        </p:nvSpPr>
        <p:spPr/>
        <p:txBody>
          <a:bodyPr/>
          <a:lstStyle/>
          <a:p>
            <a:fld id="{8D601AA8-2DD3-4483-9C48-AA3E46399C96}" type="datetimeFigureOut">
              <a:rPr lang="el-GR" smtClean="0"/>
              <a:pPr/>
              <a:t>8/5/2024</a:t>
            </a:fld>
            <a:endParaRPr lang="el-GR"/>
          </a:p>
        </p:txBody>
      </p:sp>
      <p:sp>
        <p:nvSpPr>
          <p:cNvPr id="8" name="Footer Placeholder 7"/>
          <p:cNvSpPr>
            <a:spLocks noGrp="1"/>
          </p:cNvSpPr>
          <p:nvPr>
            <p:ph type="ftr" sz="quarter" idx="11"/>
          </p:nvPr>
        </p:nvSpPr>
        <p:spPr/>
        <p:txBody>
          <a:bodyPr/>
          <a:lstStyle/>
          <a:p>
            <a:endParaRPr lang="el-GR"/>
          </a:p>
        </p:txBody>
      </p:sp>
      <p:sp>
        <p:nvSpPr>
          <p:cNvPr id="9" name="Slide Number Placeholder 8"/>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1625070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7" name="Date Placeholder 2"/>
          <p:cNvSpPr>
            <a:spLocks noGrp="1"/>
          </p:cNvSpPr>
          <p:nvPr>
            <p:ph type="dt" sz="half" idx="10"/>
          </p:nvPr>
        </p:nvSpPr>
        <p:spPr/>
        <p:txBody>
          <a:bodyPr/>
          <a:lstStyle/>
          <a:p>
            <a:fld id="{8D601AA8-2DD3-4483-9C48-AA3E46399C96}" type="datetimeFigureOut">
              <a:rPr lang="el-GR" smtClean="0"/>
              <a:pPr/>
              <a:t>8/5/2024</a:t>
            </a:fld>
            <a:endParaRPr lang="el-GR"/>
          </a:p>
        </p:txBody>
      </p:sp>
      <p:sp>
        <p:nvSpPr>
          <p:cNvPr id="5" name="Footer Placeholder 3"/>
          <p:cNvSpPr>
            <a:spLocks noGrp="1"/>
          </p:cNvSpPr>
          <p:nvPr>
            <p:ph type="ftr" sz="quarter" idx="11"/>
          </p:nvPr>
        </p:nvSpPr>
        <p:spPr/>
        <p:txBody>
          <a:bodyPr/>
          <a:lstStyle/>
          <a:p>
            <a:endParaRPr lang="el-GR"/>
          </a:p>
        </p:txBody>
      </p:sp>
      <p:sp>
        <p:nvSpPr>
          <p:cNvPr id="6" name="Slide Number Placeholder 4"/>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3660690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D601AA8-2DD3-4483-9C48-AA3E46399C96}" type="datetimeFigureOut">
              <a:rPr lang="el-GR" smtClean="0"/>
              <a:pPr/>
              <a:t>8/5/2024</a:t>
            </a:fld>
            <a:endParaRPr lang="el-GR"/>
          </a:p>
        </p:txBody>
      </p:sp>
      <p:sp>
        <p:nvSpPr>
          <p:cNvPr id="5" name="Footer Placeholder 2"/>
          <p:cNvSpPr>
            <a:spLocks noGrp="1"/>
          </p:cNvSpPr>
          <p:nvPr>
            <p:ph type="ftr" sz="quarter" idx="11"/>
          </p:nvPr>
        </p:nvSpPr>
        <p:spPr/>
        <p:txBody>
          <a:bodyPr/>
          <a:lstStyle/>
          <a:p>
            <a:endParaRPr lang="el-GR"/>
          </a:p>
        </p:txBody>
      </p:sp>
      <p:sp>
        <p:nvSpPr>
          <p:cNvPr id="6" name="Slide Number Placeholder 3"/>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2367074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l-GR"/>
              <a:t>Κάντε κλικ για να επεξεργαστείτε τον τίτλο υποδείγματος</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7" name="Date Placeholder 4"/>
          <p:cNvSpPr>
            <a:spLocks noGrp="1"/>
          </p:cNvSpPr>
          <p:nvPr>
            <p:ph type="dt" sz="half" idx="10"/>
          </p:nvPr>
        </p:nvSpPr>
        <p:spPr/>
        <p:txBody>
          <a:bodyPr/>
          <a:lstStyle/>
          <a:p>
            <a:fld id="{8D601AA8-2DD3-4483-9C48-AA3E46399C96}" type="datetimeFigureOut">
              <a:rPr lang="el-GR" smtClean="0"/>
              <a:pPr/>
              <a:t>8/5/2024</a:t>
            </a:fld>
            <a:endParaRPr lang="el-GR"/>
          </a:p>
        </p:txBody>
      </p:sp>
      <p:sp>
        <p:nvSpPr>
          <p:cNvPr id="5" name="Footer Placeholder 5"/>
          <p:cNvSpPr>
            <a:spLocks noGrp="1"/>
          </p:cNvSpPr>
          <p:nvPr>
            <p:ph type="ftr" sz="quarter" idx="11"/>
          </p:nvPr>
        </p:nvSpPr>
        <p:spPr/>
        <p:txBody>
          <a:bodyPr/>
          <a:lstStyle/>
          <a:p>
            <a:endParaRPr lang="el-GR"/>
          </a:p>
        </p:txBody>
      </p:sp>
      <p:sp>
        <p:nvSpPr>
          <p:cNvPr id="6" name="Slide Number Placeholder 6"/>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4166261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l-GR"/>
              <a:t>Κάντε κλικ για να επεξεργαστείτε τον τίτλο υποδείγματος</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l-GR"/>
              <a:t>Κάντε κλικ στο εικονίδιο για να προσθέσετε εικόνα</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5" name="Date Placeholder 4"/>
          <p:cNvSpPr>
            <a:spLocks noGrp="1"/>
          </p:cNvSpPr>
          <p:nvPr>
            <p:ph type="dt" sz="half" idx="10"/>
          </p:nvPr>
        </p:nvSpPr>
        <p:spPr/>
        <p:txBody>
          <a:bodyPr/>
          <a:lstStyle/>
          <a:p>
            <a:fld id="{8D601AA8-2DD3-4483-9C48-AA3E46399C96}" type="datetimeFigureOut">
              <a:rPr lang="el-GR" smtClean="0"/>
              <a:pPr/>
              <a:t>8/5/2024</a:t>
            </a:fld>
            <a:endParaRPr lang="el-GR"/>
          </a:p>
        </p:txBody>
      </p:sp>
      <p:sp>
        <p:nvSpPr>
          <p:cNvPr id="6" name="Footer Placeholder 5"/>
          <p:cNvSpPr>
            <a:spLocks noGrp="1"/>
          </p:cNvSpPr>
          <p:nvPr>
            <p:ph type="ftr" sz="quarter" idx="11"/>
          </p:nvPr>
        </p:nvSpPr>
        <p:spPr/>
        <p:txBody>
          <a:bodyPr/>
          <a:lstStyle/>
          <a:p>
            <a:endParaRPr lang="el-GR"/>
          </a:p>
        </p:txBody>
      </p:sp>
      <p:sp>
        <p:nvSpPr>
          <p:cNvPr id="7" name="Slide Number Placeholder 6"/>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85746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Πανοραμική εικόνα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l-GR"/>
              <a:t>Κάντε κλικ για να επεξεργαστείτε τον τίτλο υποδείγματος</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l-GR"/>
              <a:t>Κάντε κλικ στο εικονίδιο για να προσθέσετε εικόνα</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5" name="Date Placeholder 4"/>
          <p:cNvSpPr>
            <a:spLocks noGrp="1"/>
          </p:cNvSpPr>
          <p:nvPr>
            <p:ph type="dt" sz="half" idx="10"/>
          </p:nvPr>
        </p:nvSpPr>
        <p:spPr/>
        <p:txBody>
          <a:bodyPr/>
          <a:lstStyle/>
          <a:p>
            <a:fld id="{8D601AA8-2DD3-4483-9C48-AA3E46399C96}" type="datetimeFigureOut">
              <a:rPr lang="el-GR" smtClean="0"/>
              <a:pPr/>
              <a:t>8/5/2024</a:t>
            </a:fld>
            <a:endParaRPr lang="el-GR"/>
          </a:p>
        </p:txBody>
      </p:sp>
      <p:sp>
        <p:nvSpPr>
          <p:cNvPr id="6" name="Footer Placeholder 5"/>
          <p:cNvSpPr>
            <a:spLocks noGrp="1"/>
          </p:cNvSpPr>
          <p:nvPr>
            <p:ph type="ftr" sz="quarter" idx="11"/>
          </p:nvPr>
        </p:nvSpPr>
        <p:spPr/>
        <p:txBody>
          <a:bodyPr/>
          <a:lstStyle/>
          <a:p>
            <a:endParaRPr lang="el-GR"/>
          </a:p>
        </p:txBody>
      </p:sp>
      <p:sp>
        <p:nvSpPr>
          <p:cNvPr id="7" name="Slide Number Placeholder 6"/>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1718343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Τίτλος και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l-GR"/>
              <a:t>Κάντε κλικ για να επεξεργαστείτε τον τίτλο υποδείγματος</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8D601AA8-2DD3-4483-9C48-AA3E46399C96}" type="datetimeFigureOut">
              <a:rPr lang="el-GR" smtClean="0"/>
              <a:pPr/>
              <a:t>8/5/2024</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25139770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Εισαγωγικά με λεζάντα">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l-GR"/>
              <a:t>Κάντε κλικ για να επεξεργαστείτε τον τίτλο υποδείγματος</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l-GR"/>
              <a:t>Στυλ κειμένου υποδείγματος</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8D601AA8-2DD3-4483-9C48-AA3E46399C96}" type="datetimeFigureOut">
              <a:rPr lang="el-GR" smtClean="0"/>
              <a:pPr/>
              <a:t>8/5/2024</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94FD86A1-C71D-4263-9056-06198209B190}" type="slidenum">
              <a:rPr lang="el-GR" smtClean="0"/>
              <a:pPr/>
              <a:t>‹#›</a:t>
            </a:fld>
            <a:endParaRPr lang="el-GR"/>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95524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Κάρτα ονόματος">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l-GR"/>
              <a:t>Στυλ κειμένου υποδείγματος</a:t>
            </a:r>
          </a:p>
        </p:txBody>
      </p:sp>
      <p:sp>
        <p:nvSpPr>
          <p:cNvPr id="4" name="Date Placeholder 3"/>
          <p:cNvSpPr>
            <a:spLocks noGrp="1"/>
          </p:cNvSpPr>
          <p:nvPr>
            <p:ph type="dt" sz="half" idx="10"/>
          </p:nvPr>
        </p:nvSpPr>
        <p:spPr/>
        <p:txBody>
          <a:bodyPr/>
          <a:lstStyle/>
          <a:p>
            <a:fld id="{8D601AA8-2DD3-4483-9C48-AA3E46399C96}" type="datetimeFigureOut">
              <a:rPr lang="el-GR" smtClean="0"/>
              <a:pPr/>
              <a:t>8/5/2024</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15312022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στήλε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D601AA8-2DD3-4483-9C48-AA3E46399C96}" type="datetimeFigureOut">
              <a:rPr lang="el-GR" smtClean="0"/>
              <a:pPr/>
              <a:t>8/5/2024</a:t>
            </a:fld>
            <a:endParaRPr lang="el-GR"/>
          </a:p>
        </p:txBody>
      </p:sp>
      <p:sp>
        <p:nvSpPr>
          <p:cNvPr id="4"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1842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Στήλη 3 εικόνων">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l-GR"/>
              <a:t>Κάντε κλικ στο εικονίδιο για να προσθέσετε εικόνα</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l-GR"/>
              <a:t>Κάντε κλικ στο εικονίδιο για να προσθέσετε εικόνα</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l-GR"/>
              <a:t>Κάντε κλικ στο εικονίδιο για να προσθέσετε εικόνα</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l-GR"/>
              <a:t>Στυλ κειμένου υποδείγματος</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D601AA8-2DD3-4483-9C48-AA3E46399C96}" type="datetimeFigureOut">
              <a:rPr lang="el-GR" smtClean="0"/>
              <a:pPr/>
              <a:t>8/5/2024</a:t>
            </a:fld>
            <a:endParaRPr lang="el-GR"/>
          </a:p>
        </p:txBody>
      </p:sp>
      <p:sp>
        <p:nvSpPr>
          <p:cNvPr id="4"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24603533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p:txBody>
          <a:bodyPr vert="eaVert" anchor="t" anchorCtr="0"/>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8D601AA8-2DD3-4483-9C48-AA3E46399C96}" type="datetimeFigureOut">
              <a:rPr lang="el-GR" smtClean="0"/>
              <a:pPr/>
              <a:t>8/5/2024</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19141624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l-GR"/>
              <a:t>Κάντε κλικ για να επεξεργαστείτε τον τίτλο υποδείγματος</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10"/>
          </p:nvPr>
        </p:nvSpPr>
        <p:spPr/>
        <p:txBody>
          <a:bodyPr/>
          <a:lstStyle/>
          <a:p>
            <a:fld id="{8D601AA8-2DD3-4483-9C48-AA3E46399C96}" type="datetimeFigureOut">
              <a:rPr lang="el-GR" smtClean="0"/>
              <a:pPr/>
              <a:t>8/5/2024</a:t>
            </a:fld>
            <a:endParaRPr lang="el-GR"/>
          </a:p>
        </p:txBody>
      </p:sp>
      <p:sp>
        <p:nvSpPr>
          <p:cNvPr id="5" name="Footer Placeholder 4"/>
          <p:cNvSpPr>
            <a:spLocks noGrp="1"/>
          </p:cNvSpPr>
          <p:nvPr>
            <p:ph type="ftr" sz="quarter" idx="11"/>
          </p:nvPr>
        </p:nvSpPr>
        <p:spPr/>
        <p:txBody>
          <a:bodyPr/>
          <a:lstStyle/>
          <a:p>
            <a:endParaRPr lang="el-GR"/>
          </a:p>
        </p:txBody>
      </p:sp>
      <p:sp>
        <p:nvSpPr>
          <p:cNvPr id="6" name="Slide Number Placeholder 5"/>
          <p:cNvSpPr>
            <a:spLocks noGrp="1"/>
          </p:cNvSpPr>
          <p:nvPr>
            <p:ph type="sldNum" sz="quarter" idx="12"/>
          </p:nvPr>
        </p:nvSpPr>
        <p:spPr/>
        <p:txBody>
          <a:bodyPr/>
          <a:lstStyle/>
          <a:p>
            <a:fld id="{94FD86A1-C71D-4263-9056-06198209B190}" type="slidenum">
              <a:rPr lang="el-GR" smtClean="0"/>
              <a:pPr/>
              <a:t>‹#›</a:t>
            </a:fld>
            <a:endParaRPr lang="el-GR"/>
          </a:p>
        </p:txBody>
      </p:sp>
    </p:spTree>
    <p:extLst>
      <p:ext uri="{BB962C8B-B14F-4D97-AF65-F5344CB8AC3E}">
        <p14:creationId xmlns:p14="http://schemas.microsoft.com/office/powerpoint/2010/main" val="28776726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l-GR"/>
              <a:t>Κάντε κλικ για να επεξεργαστείτε τον τίτλο υποδείγματος</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D601AA8-2DD3-4483-9C48-AA3E46399C96}" type="datetimeFigureOut">
              <a:rPr lang="el-GR" smtClean="0"/>
              <a:pPr/>
              <a:t>8/5/2024</a:t>
            </a:fld>
            <a:endParaRPr lang="el-G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l-GR"/>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4FD86A1-C71D-4263-9056-06198209B190}" type="slidenum">
              <a:rPr lang="el-GR" smtClean="0"/>
              <a:pPr/>
              <a:t>‹#›</a:t>
            </a:fld>
            <a:endParaRPr lang="el-GR"/>
          </a:p>
        </p:txBody>
      </p:sp>
    </p:spTree>
    <p:extLst>
      <p:ext uri="{BB962C8B-B14F-4D97-AF65-F5344CB8AC3E}">
        <p14:creationId xmlns:p14="http://schemas.microsoft.com/office/powerpoint/2010/main" val="360134184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62C2DE4-0781-1BAE-DC8B-83AB5FEA45ED}"/>
              </a:ext>
            </a:extLst>
          </p:cNvPr>
          <p:cNvSpPr>
            <a:spLocks noGrp="1"/>
          </p:cNvSpPr>
          <p:nvPr>
            <p:ph type="ctrTitle"/>
          </p:nvPr>
        </p:nvSpPr>
        <p:spPr>
          <a:xfrm>
            <a:off x="1154955" y="1080655"/>
            <a:ext cx="8825658" cy="1496290"/>
          </a:xfrm>
        </p:spPr>
        <p:txBody>
          <a:bodyPr/>
          <a:lstStyle/>
          <a:p>
            <a:pPr algn="ctr"/>
            <a:r>
              <a:rPr lang="en-US" sz="4000" dirty="0">
                <a:effectLst/>
                <a:latin typeface="Calibri" panose="020F0502020204030204" pitchFamily="34" charset="0"/>
                <a:ea typeface="Times New Roman" panose="02020603050405020304" pitchFamily="18" charset="0"/>
                <a:cs typeface="Times New Roman" panose="02020603050405020304" pitchFamily="18" charset="0"/>
              </a:rPr>
              <a:t>The ethics of algorithms: key </a:t>
            </a:r>
            <a:r>
              <a:rPr lang="en-US" sz="4000">
                <a:effectLst/>
                <a:latin typeface="Calibri" panose="020F0502020204030204" pitchFamily="34" charset="0"/>
                <a:ea typeface="Times New Roman" panose="02020603050405020304" pitchFamily="18" charset="0"/>
                <a:cs typeface="Times New Roman" panose="02020603050405020304" pitchFamily="18" charset="0"/>
              </a:rPr>
              <a:t>problems and</a:t>
            </a:r>
            <a:r>
              <a:rPr lang="en-US" sz="4000" dirty="0">
                <a:effectLst/>
                <a:latin typeface="Calibri" panose="020F0502020204030204" pitchFamily="34" charset="0"/>
                <a:ea typeface="Times New Roman" panose="02020603050405020304" pitchFamily="18" charset="0"/>
                <a:cs typeface="Times New Roman" panose="02020603050405020304" pitchFamily="18" charset="0"/>
              </a:rPr>
              <a:t> solutions</a:t>
            </a:r>
            <a:endParaRPr lang="el-GR" sz="4000" dirty="0"/>
          </a:p>
        </p:txBody>
      </p:sp>
      <p:sp>
        <p:nvSpPr>
          <p:cNvPr id="3" name="Υπότιτλος 2">
            <a:extLst>
              <a:ext uri="{FF2B5EF4-FFF2-40B4-BE49-F238E27FC236}">
                <a16:creationId xmlns:a16="http://schemas.microsoft.com/office/drawing/2014/main" id="{72155071-270B-A262-069D-5069984FB3D6}"/>
              </a:ext>
            </a:extLst>
          </p:cNvPr>
          <p:cNvSpPr>
            <a:spLocks noGrp="1"/>
          </p:cNvSpPr>
          <p:nvPr>
            <p:ph type="subTitle" idx="1"/>
          </p:nvPr>
        </p:nvSpPr>
        <p:spPr>
          <a:xfrm>
            <a:off x="1154955" y="4940135"/>
            <a:ext cx="4941045" cy="1246908"/>
          </a:xfrm>
        </p:spPr>
        <p:txBody>
          <a:bodyPr>
            <a:normAutofit/>
          </a:bodyPr>
          <a:lstStyle/>
          <a:p>
            <a:pPr>
              <a:spcBef>
                <a:spcPts val="0"/>
              </a:spcBef>
            </a:pPr>
            <a:r>
              <a:rPr lang="en-US" sz="1400" dirty="0"/>
              <a:t>Presented by:</a:t>
            </a:r>
          </a:p>
          <a:p>
            <a:pPr>
              <a:spcBef>
                <a:spcPts val="0"/>
              </a:spcBef>
            </a:pPr>
            <a:r>
              <a:rPr lang="en-US" sz="1400" dirty="0" err="1"/>
              <a:t>Paximadis</a:t>
            </a:r>
            <a:r>
              <a:rPr lang="en-US" sz="1400" dirty="0"/>
              <a:t> </a:t>
            </a:r>
            <a:r>
              <a:rPr lang="en-US" sz="1400" dirty="0" err="1"/>
              <a:t>theofrastos</a:t>
            </a:r>
            <a:endParaRPr lang="en-US" sz="1400" dirty="0"/>
          </a:p>
          <a:p>
            <a:pPr>
              <a:spcBef>
                <a:spcPts val="0"/>
              </a:spcBef>
            </a:pPr>
            <a:r>
              <a:rPr lang="en-US" sz="1400" dirty="0" err="1"/>
              <a:t>AnastasioU</a:t>
            </a:r>
            <a:r>
              <a:rPr lang="en-US" sz="1400" dirty="0"/>
              <a:t> </a:t>
            </a:r>
            <a:r>
              <a:rPr lang="en-US" sz="1400" dirty="0" err="1"/>
              <a:t>CHaralampos</a:t>
            </a:r>
            <a:endParaRPr lang="en-US" sz="1400" dirty="0"/>
          </a:p>
          <a:p>
            <a:pPr>
              <a:spcBef>
                <a:spcPts val="0"/>
              </a:spcBef>
            </a:pPr>
            <a:r>
              <a:rPr lang="en-US" sz="1400" dirty="0" err="1"/>
              <a:t>Anastasopoylos</a:t>
            </a:r>
            <a:r>
              <a:rPr lang="en-US" sz="1400" dirty="0"/>
              <a:t> </a:t>
            </a:r>
            <a:r>
              <a:rPr lang="en-US" sz="1400" dirty="0" err="1"/>
              <a:t>koNstantinos</a:t>
            </a:r>
            <a:endParaRPr lang="el-GR" sz="1400" dirty="0"/>
          </a:p>
        </p:txBody>
      </p:sp>
    </p:spTree>
    <p:extLst>
      <p:ext uri="{BB962C8B-B14F-4D97-AF65-F5344CB8AC3E}">
        <p14:creationId xmlns:p14="http://schemas.microsoft.com/office/powerpoint/2010/main" val="1175736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E068E48-1DB9-ACE8-646A-0D27B2C3AA86}"/>
              </a:ext>
            </a:extLst>
          </p:cNvPr>
          <p:cNvSpPr>
            <a:spLocks noGrp="1"/>
          </p:cNvSpPr>
          <p:nvPr>
            <p:ph type="title"/>
          </p:nvPr>
        </p:nvSpPr>
        <p:spPr/>
        <p:txBody>
          <a:bodyPr/>
          <a:lstStyle/>
          <a:p>
            <a:pPr algn="ctr"/>
            <a:r>
              <a:rPr lang="el-GR" sz="4400" dirty="0">
                <a:effectLst/>
                <a:latin typeface="Calibri" panose="020F0502020204030204" pitchFamily="34" charset="0"/>
                <a:ea typeface="Times New Roman" panose="02020603050405020304" pitchFamily="18" charset="0"/>
                <a:cs typeface="Times New Roman" panose="02020603050405020304" pitchFamily="18" charset="0"/>
              </a:rPr>
              <a:t>Εισαγωγή</a:t>
            </a:r>
            <a:endParaRPr lang="el-GR" sz="4000" dirty="0"/>
          </a:p>
        </p:txBody>
      </p:sp>
      <p:sp>
        <p:nvSpPr>
          <p:cNvPr id="3" name="Θέση περιεχομένου 2">
            <a:extLst>
              <a:ext uri="{FF2B5EF4-FFF2-40B4-BE49-F238E27FC236}">
                <a16:creationId xmlns:a16="http://schemas.microsoft.com/office/drawing/2014/main" id="{2D256846-8CB4-CC94-04DE-2C6E4762DC15}"/>
              </a:ext>
            </a:extLst>
          </p:cNvPr>
          <p:cNvSpPr>
            <a:spLocks noGrp="1"/>
          </p:cNvSpPr>
          <p:nvPr>
            <p:ph idx="1"/>
          </p:nvPr>
        </p:nvSpPr>
        <p:spPr>
          <a:xfrm>
            <a:off x="1103312" y="2052919"/>
            <a:ext cx="8946541" cy="3849118"/>
          </a:xfrm>
        </p:spPr>
        <p:txBody>
          <a:bodyPr/>
          <a:lstStyle/>
          <a:p>
            <a:pPr algn="just"/>
            <a:r>
              <a:rPr lang="el-GR" sz="2400" dirty="0">
                <a:effectLst/>
                <a:latin typeface="Calibri" panose="020F0502020204030204" pitchFamily="34" charset="0"/>
                <a:ea typeface="Times New Roman" panose="02020603050405020304" pitchFamily="18" charset="0"/>
                <a:cs typeface="Times New Roman" panose="02020603050405020304" pitchFamily="18" charset="0"/>
              </a:rPr>
              <a:t>Οι αλγόριθμοι στην σύγχρονη εποχή, εξαιτίας της ευκολίας πρόσβασης και ευχρηστίας που παρέχουν, έχουν γίνει αναπόσπαστο κομμάτι της καθημερινότητας όλων. Ωστόσο, η ανεξέλεγκτη χρήση των αλγόριθμων φέρνει ηθικούς κινδύνους. Μερικά παραδείγματα των ηθικών κινδύνων που επιφέρουν, είναι η προκατάληψη σε μεταφράσεις, οι διακρίσεις στην παροχή της υγειονομικής φροντίδας καθώς και η ενίσχυση ήδη υπαρχόντων κοινωνικών ανισοτήτων.</a:t>
            </a:r>
          </a:p>
          <a:p>
            <a:endParaRPr lang="el-GR" dirty="0"/>
          </a:p>
        </p:txBody>
      </p:sp>
    </p:spTree>
    <p:extLst>
      <p:ext uri="{BB962C8B-B14F-4D97-AF65-F5344CB8AC3E}">
        <p14:creationId xmlns:p14="http://schemas.microsoft.com/office/powerpoint/2010/main" val="324591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1A08FF5-C043-4DC4-56CD-598520277C19}"/>
              </a:ext>
            </a:extLst>
          </p:cNvPr>
          <p:cNvSpPr>
            <a:spLocks noGrp="1"/>
          </p:cNvSpPr>
          <p:nvPr>
            <p:ph type="title"/>
          </p:nvPr>
        </p:nvSpPr>
        <p:spPr/>
        <p:txBody>
          <a:bodyPr/>
          <a:lstStyle/>
          <a:p>
            <a:pPr algn="ctr"/>
            <a:r>
              <a:rPr lang="el-GR" sz="4400" dirty="0">
                <a:effectLst/>
                <a:latin typeface="Calibri" panose="020F0502020204030204" pitchFamily="34" charset="0"/>
                <a:ea typeface="Times New Roman" panose="02020603050405020304" pitchFamily="18" charset="0"/>
                <a:cs typeface="Times New Roman" panose="02020603050405020304" pitchFamily="18" charset="0"/>
              </a:rPr>
              <a:t>Ηθικές ανησυχίες από τους αλγορίθμους.</a:t>
            </a:r>
            <a:br>
              <a:rPr lang="el-GR" sz="1800" dirty="0">
                <a:effectLst/>
                <a:latin typeface="Calibri" panose="020F0502020204030204" pitchFamily="34" charset="0"/>
                <a:ea typeface="Times New Roman" panose="02020603050405020304" pitchFamily="18" charset="0"/>
                <a:cs typeface="Times New Roman" panose="02020603050405020304" pitchFamily="18" charset="0"/>
              </a:rPr>
            </a:br>
            <a:endParaRPr lang="el-GR" dirty="0"/>
          </a:p>
        </p:txBody>
      </p:sp>
      <p:sp>
        <p:nvSpPr>
          <p:cNvPr id="3" name="Θέση περιεχομένου 2">
            <a:extLst>
              <a:ext uri="{FF2B5EF4-FFF2-40B4-BE49-F238E27FC236}">
                <a16:creationId xmlns:a16="http://schemas.microsoft.com/office/drawing/2014/main" id="{599F23B4-D2E5-A819-00B9-6624914DAB35}"/>
              </a:ext>
            </a:extLst>
          </p:cNvPr>
          <p:cNvSpPr>
            <a:spLocks noGrp="1"/>
          </p:cNvSpPr>
          <p:nvPr>
            <p:ph idx="1"/>
          </p:nvPr>
        </p:nvSpPr>
        <p:spPr/>
        <p:txBody>
          <a:bodyPr/>
          <a:lstStyle/>
          <a:p>
            <a:pPr marL="342900" lvl="0" indent="-342900">
              <a:lnSpc>
                <a:spcPct val="115000"/>
              </a:lnSpc>
              <a:spcAft>
                <a:spcPts val="0"/>
              </a:spcAft>
              <a:buFont typeface="Symbol" panose="05050102010706020507" pitchFamily="18" charset="2"/>
              <a:buChar char=""/>
            </a:pPr>
            <a:r>
              <a:rPr lang="el-GR" sz="2800" dirty="0" err="1">
                <a:effectLst/>
                <a:latin typeface="Calibri" panose="020F0502020204030204" pitchFamily="34" charset="0"/>
                <a:ea typeface="Times New Roman" panose="02020603050405020304" pitchFamily="18" charset="0"/>
                <a:cs typeface="Times New Roman" panose="02020603050405020304" pitchFamily="18" charset="0"/>
              </a:rPr>
              <a:t>Inconclusive</a:t>
            </a:r>
            <a:r>
              <a:rPr lang="el-GR" sz="2800" dirty="0">
                <a:effectLst/>
                <a:latin typeface="Calibri" panose="020F0502020204030204" pitchFamily="34" charset="0"/>
                <a:ea typeface="Times New Roman" panose="02020603050405020304" pitchFamily="18" charset="0"/>
                <a:cs typeface="Times New Roman" panose="02020603050405020304" pitchFamily="18" charset="0"/>
              </a:rPr>
              <a:t> </a:t>
            </a:r>
            <a:r>
              <a:rPr lang="el-GR" sz="2800" dirty="0" err="1">
                <a:effectLst/>
                <a:latin typeface="Calibri" panose="020F0502020204030204" pitchFamily="34" charset="0"/>
                <a:ea typeface="Times New Roman" panose="02020603050405020304" pitchFamily="18" charset="0"/>
                <a:cs typeface="Times New Roman" panose="02020603050405020304" pitchFamily="18" charset="0"/>
              </a:rPr>
              <a:t>Evidence</a:t>
            </a:r>
            <a:endParaRPr lang="el-GR" sz="2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l-GR" sz="2800" dirty="0" err="1">
                <a:effectLst/>
                <a:latin typeface="Calibri" panose="020F0502020204030204" pitchFamily="34" charset="0"/>
                <a:ea typeface="Times New Roman" panose="02020603050405020304" pitchFamily="18" charset="0"/>
                <a:cs typeface="Times New Roman" panose="02020603050405020304" pitchFamily="18" charset="0"/>
              </a:rPr>
              <a:t>Instructable</a:t>
            </a:r>
            <a:r>
              <a:rPr lang="el-GR" sz="2800" dirty="0">
                <a:effectLst/>
                <a:latin typeface="Calibri" panose="020F0502020204030204" pitchFamily="34" charset="0"/>
                <a:ea typeface="Times New Roman" panose="02020603050405020304" pitchFamily="18" charset="0"/>
                <a:cs typeface="Times New Roman" panose="02020603050405020304" pitchFamily="18" charset="0"/>
              </a:rPr>
              <a:t> </a:t>
            </a:r>
            <a:r>
              <a:rPr lang="el-GR" sz="2800" dirty="0" err="1">
                <a:effectLst/>
                <a:latin typeface="Calibri" panose="020F0502020204030204" pitchFamily="34" charset="0"/>
                <a:ea typeface="Times New Roman" panose="02020603050405020304" pitchFamily="18" charset="0"/>
                <a:cs typeface="Times New Roman" panose="02020603050405020304" pitchFamily="18" charset="0"/>
              </a:rPr>
              <a:t>Evidence</a:t>
            </a:r>
            <a:r>
              <a:rPr lang="el-GR" sz="2800" dirty="0">
                <a:effectLst/>
                <a:latin typeface="Calibri" panose="020F0502020204030204" pitchFamily="34" charset="0"/>
                <a:ea typeface="Times New Roman" panose="02020603050405020304" pitchFamily="18" charset="0"/>
                <a:cs typeface="Times New Roman" panose="02020603050405020304" pitchFamily="18" charset="0"/>
              </a:rPr>
              <a:t> </a:t>
            </a:r>
          </a:p>
          <a:p>
            <a:pPr marL="342900" lvl="0" indent="-342900">
              <a:lnSpc>
                <a:spcPct val="115000"/>
              </a:lnSpc>
              <a:spcAft>
                <a:spcPts val="0"/>
              </a:spcAft>
              <a:buFont typeface="Symbol" panose="05050102010706020507" pitchFamily="18" charset="2"/>
              <a:buChar char=""/>
            </a:pPr>
            <a:r>
              <a:rPr lang="el-GR" sz="2800" dirty="0" err="1">
                <a:effectLst/>
                <a:latin typeface="Calibri" panose="020F0502020204030204" pitchFamily="34" charset="0"/>
                <a:ea typeface="Times New Roman" panose="02020603050405020304" pitchFamily="18" charset="0"/>
                <a:cs typeface="Times New Roman" panose="02020603050405020304" pitchFamily="18" charset="0"/>
              </a:rPr>
              <a:t>Misguided</a:t>
            </a:r>
            <a:r>
              <a:rPr lang="el-GR" sz="2800" dirty="0">
                <a:effectLst/>
                <a:latin typeface="Calibri" panose="020F0502020204030204" pitchFamily="34" charset="0"/>
                <a:ea typeface="Times New Roman" panose="02020603050405020304" pitchFamily="18" charset="0"/>
                <a:cs typeface="Times New Roman" panose="02020603050405020304" pitchFamily="18" charset="0"/>
              </a:rPr>
              <a:t> </a:t>
            </a:r>
            <a:r>
              <a:rPr lang="el-GR" sz="2800" dirty="0" err="1">
                <a:effectLst/>
                <a:latin typeface="Calibri" panose="020F0502020204030204" pitchFamily="34" charset="0"/>
                <a:ea typeface="Times New Roman" panose="02020603050405020304" pitchFamily="18" charset="0"/>
                <a:cs typeface="Times New Roman" panose="02020603050405020304" pitchFamily="18" charset="0"/>
              </a:rPr>
              <a:t>Evidence</a:t>
            </a:r>
            <a:endParaRPr lang="el-GR" sz="2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l-GR" sz="2800" dirty="0" err="1">
                <a:effectLst/>
                <a:latin typeface="Calibri" panose="020F0502020204030204" pitchFamily="34" charset="0"/>
                <a:ea typeface="Times New Roman" panose="02020603050405020304" pitchFamily="18" charset="0"/>
                <a:cs typeface="Times New Roman" panose="02020603050405020304" pitchFamily="18" charset="0"/>
              </a:rPr>
              <a:t>Unfair</a:t>
            </a:r>
            <a:r>
              <a:rPr lang="el-GR" sz="2800" dirty="0">
                <a:effectLst/>
                <a:latin typeface="Calibri" panose="020F0502020204030204" pitchFamily="34" charset="0"/>
                <a:ea typeface="Times New Roman" panose="02020603050405020304" pitchFamily="18" charset="0"/>
                <a:cs typeface="Times New Roman" panose="02020603050405020304" pitchFamily="18" charset="0"/>
              </a:rPr>
              <a:t> </a:t>
            </a:r>
            <a:r>
              <a:rPr lang="el-GR" sz="2800" dirty="0" err="1">
                <a:effectLst/>
                <a:latin typeface="Calibri" panose="020F0502020204030204" pitchFamily="34" charset="0"/>
                <a:ea typeface="Times New Roman" panose="02020603050405020304" pitchFamily="18" charset="0"/>
                <a:cs typeface="Times New Roman" panose="02020603050405020304" pitchFamily="18" charset="0"/>
              </a:rPr>
              <a:t>Outcomes</a:t>
            </a:r>
            <a:endParaRPr lang="el-GR" sz="2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l-GR" sz="2800" dirty="0" err="1">
                <a:effectLst/>
                <a:latin typeface="Calibri" panose="020F0502020204030204" pitchFamily="34" charset="0"/>
                <a:ea typeface="Times New Roman" panose="02020603050405020304" pitchFamily="18" charset="0"/>
                <a:cs typeface="Times New Roman" panose="02020603050405020304" pitchFamily="18" charset="0"/>
              </a:rPr>
              <a:t>Transformative</a:t>
            </a:r>
            <a:r>
              <a:rPr lang="el-GR" sz="2800" dirty="0">
                <a:effectLst/>
                <a:latin typeface="Calibri" panose="020F0502020204030204" pitchFamily="34" charset="0"/>
                <a:ea typeface="Times New Roman" panose="02020603050405020304" pitchFamily="18" charset="0"/>
                <a:cs typeface="Times New Roman" panose="02020603050405020304" pitchFamily="18" charset="0"/>
              </a:rPr>
              <a:t> </a:t>
            </a:r>
            <a:r>
              <a:rPr lang="el-GR" sz="2800" dirty="0" err="1">
                <a:effectLst/>
                <a:latin typeface="Calibri" panose="020F0502020204030204" pitchFamily="34" charset="0"/>
                <a:ea typeface="Times New Roman" panose="02020603050405020304" pitchFamily="18" charset="0"/>
                <a:cs typeface="Times New Roman" panose="02020603050405020304" pitchFamily="18" charset="0"/>
              </a:rPr>
              <a:t>Effects</a:t>
            </a:r>
            <a:endParaRPr lang="el-GR" sz="2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l-GR" sz="2800" dirty="0" err="1">
                <a:effectLst/>
                <a:latin typeface="Calibri" panose="020F0502020204030204" pitchFamily="34" charset="0"/>
                <a:ea typeface="Times New Roman" panose="02020603050405020304" pitchFamily="18" charset="0"/>
                <a:cs typeface="Times New Roman" panose="02020603050405020304" pitchFamily="18" charset="0"/>
              </a:rPr>
              <a:t>Traceability</a:t>
            </a:r>
            <a:endParaRPr lang="el-GR" sz="2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l-GR" dirty="0"/>
          </a:p>
        </p:txBody>
      </p:sp>
    </p:spTree>
    <p:extLst>
      <p:ext uri="{BB962C8B-B14F-4D97-AF65-F5344CB8AC3E}">
        <p14:creationId xmlns:p14="http://schemas.microsoft.com/office/powerpoint/2010/main" val="423633212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8D57CC4-109A-DF06-753E-D263E96B1B6F}"/>
              </a:ext>
            </a:extLst>
          </p:cNvPr>
          <p:cNvSpPr>
            <a:spLocks noGrp="1"/>
          </p:cNvSpPr>
          <p:nvPr>
            <p:ph type="title"/>
          </p:nvPr>
        </p:nvSpPr>
        <p:spPr/>
        <p:txBody>
          <a:bodyPr/>
          <a:lstStyle/>
          <a:p>
            <a:pPr algn="ctr"/>
            <a:r>
              <a:rPr lang="el-GR" sz="4400" dirty="0" err="1">
                <a:effectLst/>
                <a:latin typeface="Calibri" panose="020F0502020204030204" pitchFamily="34" charset="0"/>
                <a:ea typeface="Times New Roman" panose="02020603050405020304" pitchFamily="18" charset="0"/>
                <a:cs typeface="Times New Roman" panose="02020603050405020304" pitchFamily="18" charset="0"/>
              </a:rPr>
              <a:t>Inconclusive</a:t>
            </a:r>
            <a:r>
              <a:rPr lang="el-GR" sz="4400" dirty="0">
                <a:effectLst/>
                <a:latin typeface="Calibri" panose="020F0502020204030204" pitchFamily="34" charset="0"/>
                <a:ea typeface="Times New Roman" panose="02020603050405020304" pitchFamily="18" charset="0"/>
                <a:cs typeface="Times New Roman" panose="02020603050405020304" pitchFamily="18" charset="0"/>
              </a:rPr>
              <a:t> </a:t>
            </a:r>
            <a:r>
              <a:rPr lang="el-GR" sz="4400" dirty="0" err="1">
                <a:effectLst/>
                <a:latin typeface="Calibri" panose="020F0502020204030204" pitchFamily="34" charset="0"/>
                <a:ea typeface="Times New Roman" panose="02020603050405020304" pitchFamily="18" charset="0"/>
                <a:cs typeface="Times New Roman" panose="02020603050405020304" pitchFamily="18" charset="0"/>
              </a:rPr>
              <a:t>Evidence</a:t>
            </a:r>
            <a:endParaRPr lang="el-GR" sz="4400" dirty="0"/>
          </a:p>
        </p:txBody>
      </p:sp>
      <p:sp>
        <p:nvSpPr>
          <p:cNvPr id="3" name="Θέση περιεχομένου 2">
            <a:extLst>
              <a:ext uri="{FF2B5EF4-FFF2-40B4-BE49-F238E27FC236}">
                <a16:creationId xmlns:a16="http://schemas.microsoft.com/office/drawing/2014/main" id="{FB4894F6-6AAD-5FF9-AFD6-AE35BE19DDA4}"/>
              </a:ext>
            </a:extLst>
          </p:cNvPr>
          <p:cNvSpPr>
            <a:spLocks noGrp="1"/>
          </p:cNvSpPr>
          <p:nvPr>
            <p:ph idx="1"/>
          </p:nvPr>
        </p:nvSpPr>
        <p:spPr/>
        <p:txBody>
          <a:bodyPr/>
          <a:lstStyle/>
          <a:p>
            <a:pPr algn="just"/>
            <a:r>
              <a:rPr lang="el-GR" sz="2800" dirty="0">
                <a:effectLst/>
                <a:latin typeface="Calibri" panose="020F0502020204030204" pitchFamily="34" charset="0"/>
                <a:ea typeface="Times New Roman" panose="02020603050405020304" pitchFamily="18" charset="0"/>
                <a:cs typeface="Times New Roman" panose="02020603050405020304" pitchFamily="18" charset="0"/>
              </a:rPr>
              <a:t>Η κακή ποιότητα των δεδομένων μπορεί να περιορίσει τη δυνατότητα επιβεβαίωσης αποφάσεων από αλγόριθμους, καθώς οι πληροφορίες που εξάγονται μπορεί να είναι ανασφαλείς, ανεπαρκείς και να εξαρτώνται από παράγοντες που σχετίζονται με τη διαδικασία συλλογής των δεδομένων.</a:t>
            </a:r>
          </a:p>
          <a:p>
            <a:endParaRPr lang="el-GR" dirty="0"/>
          </a:p>
        </p:txBody>
      </p:sp>
    </p:spTree>
    <p:extLst>
      <p:ext uri="{BB962C8B-B14F-4D97-AF65-F5344CB8AC3E}">
        <p14:creationId xmlns:p14="http://schemas.microsoft.com/office/powerpoint/2010/main" val="4241038739"/>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C0CF9E6A-0B87-1D6E-B4F0-3E831127A5E3}"/>
              </a:ext>
            </a:extLst>
          </p:cNvPr>
          <p:cNvSpPr>
            <a:spLocks noGrp="1"/>
          </p:cNvSpPr>
          <p:nvPr>
            <p:ph type="title"/>
          </p:nvPr>
        </p:nvSpPr>
        <p:spPr/>
        <p:txBody>
          <a:bodyPr/>
          <a:lstStyle/>
          <a:p>
            <a:pPr algn="ctr"/>
            <a:r>
              <a:rPr lang="el-GR" sz="4400" dirty="0" err="1">
                <a:effectLst/>
                <a:latin typeface="Calibri" panose="020F0502020204030204" pitchFamily="34" charset="0"/>
                <a:ea typeface="Times New Roman" panose="02020603050405020304" pitchFamily="18" charset="0"/>
                <a:cs typeface="Times New Roman" panose="02020603050405020304" pitchFamily="18" charset="0"/>
              </a:rPr>
              <a:t>Instructable</a:t>
            </a:r>
            <a:r>
              <a:rPr lang="el-GR" sz="4400" dirty="0">
                <a:effectLst/>
                <a:latin typeface="Calibri" panose="020F0502020204030204" pitchFamily="34" charset="0"/>
                <a:ea typeface="Times New Roman" panose="02020603050405020304" pitchFamily="18" charset="0"/>
                <a:cs typeface="Times New Roman" panose="02020603050405020304" pitchFamily="18" charset="0"/>
              </a:rPr>
              <a:t> </a:t>
            </a:r>
            <a:r>
              <a:rPr lang="el-GR" sz="4400" dirty="0" err="1">
                <a:effectLst/>
                <a:latin typeface="Calibri" panose="020F0502020204030204" pitchFamily="34" charset="0"/>
                <a:ea typeface="Times New Roman" panose="02020603050405020304" pitchFamily="18" charset="0"/>
                <a:cs typeface="Times New Roman" panose="02020603050405020304" pitchFamily="18" charset="0"/>
              </a:rPr>
              <a:t>Evidence</a:t>
            </a:r>
            <a:endParaRPr lang="el-GR" sz="4400" dirty="0"/>
          </a:p>
        </p:txBody>
      </p:sp>
      <p:sp>
        <p:nvSpPr>
          <p:cNvPr id="3" name="Θέση περιεχομένου 2">
            <a:extLst>
              <a:ext uri="{FF2B5EF4-FFF2-40B4-BE49-F238E27FC236}">
                <a16:creationId xmlns:a16="http://schemas.microsoft.com/office/drawing/2014/main" id="{B0FEA3AD-9769-BF8E-8F28-6201BAE6C922}"/>
              </a:ext>
            </a:extLst>
          </p:cNvPr>
          <p:cNvSpPr>
            <a:spLocks noGrp="1"/>
          </p:cNvSpPr>
          <p:nvPr>
            <p:ph idx="1"/>
          </p:nvPr>
        </p:nvSpPr>
        <p:spPr/>
        <p:txBody>
          <a:bodyPr/>
          <a:lstStyle/>
          <a:p>
            <a:pPr algn="just"/>
            <a:r>
              <a:rPr lang="el-GR" sz="2800" dirty="0">
                <a:effectLst/>
                <a:latin typeface="Calibri" panose="020F0502020204030204" pitchFamily="34" charset="0"/>
                <a:ea typeface="Times New Roman" panose="02020603050405020304" pitchFamily="18" charset="0"/>
                <a:cs typeface="Times New Roman" panose="02020603050405020304" pitchFamily="18" charset="0"/>
              </a:rPr>
              <a:t>Η έλλειψη διαφάνειας που συχνά χαρακτηρίζει τους αλγόριθμους, δηλαδή ή έλλειψη εποπτείας και ευθύνης, συχνά συρρικνώνει την εμπιστοσύνη των ανθρώπων ως προς τις αποφάσεις των αλγορίθμων. </a:t>
            </a:r>
          </a:p>
          <a:p>
            <a:endParaRPr lang="el-GR" dirty="0"/>
          </a:p>
        </p:txBody>
      </p:sp>
    </p:spTree>
    <p:extLst>
      <p:ext uri="{BB962C8B-B14F-4D97-AF65-F5344CB8AC3E}">
        <p14:creationId xmlns:p14="http://schemas.microsoft.com/office/powerpoint/2010/main" val="330008042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9ECCB38-58F0-2F1C-3206-5BDE805F6204}"/>
              </a:ext>
            </a:extLst>
          </p:cNvPr>
          <p:cNvSpPr>
            <a:spLocks noGrp="1"/>
          </p:cNvSpPr>
          <p:nvPr>
            <p:ph type="title"/>
          </p:nvPr>
        </p:nvSpPr>
        <p:spPr/>
        <p:txBody>
          <a:bodyPr/>
          <a:lstStyle/>
          <a:p>
            <a:pPr algn="ctr"/>
            <a:r>
              <a:rPr lang="el-GR" sz="4400" dirty="0" err="1">
                <a:effectLst/>
                <a:latin typeface="Calibri" panose="020F0502020204030204" pitchFamily="34" charset="0"/>
                <a:ea typeface="Times New Roman" panose="02020603050405020304" pitchFamily="18" charset="0"/>
                <a:cs typeface="Times New Roman" panose="02020603050405020304" pitchFamily="18" charset="0"/>
              </a:rPr>
              <a:t>Misguided</a:t>
            </a:r>
            <a:r>
              <a:rPr lang="el-GR" sz="4400" dirty="0">
                <a:effectLst/>
                <a:latin typeface="Calibri" panose="020F0502020204030204" pitchFamily="34" charset="0"/>
                <a:ea typeface="Times New Roman" panose="02020603050405020304" pitchFamily="18" charset="0"/>
                <a:cs typeface="Times New Roman" panose="02020603050405020304" pitchFamily="18" charset="0"/>
              </a:rPr>
              <a:t> </a:t>
            </a:r>
            <a:r>
              <a:rPr lang="el-GR" sz="4400" dirty="0" err="1">
                <a:effectLst/>
                <a:latin typeface="Calibri" panose="020F0502020204030204" pitchFamily="34" charset="0"/>
                <a:ea typeface="Times New Roman" panose="02020603050405020304" pitchFamily="18" charset="0"/>
                <a:cs typeface="Times New Roman" panose="02020603050405020304" pitchFamily="18" charset="0"/>
              </a:rPr>
              <a:t>Evidence</a:t>
            </a:r>
            <a:endParaRPr lang="el-GR" sz="4400" dirty="0"/>
          </a:p>
        </p:txBody>
      </p:sp>
      <p:sp>
        <p:nvSpPr>
          <p:cNvPr id="3" name="Θέση περιεχομένου 2">
            <a:extLst>
              <a:ext uri="{FF2B5EF4-FFF2-40B4-BE49-F238E27FC236}">
                <a16:creationId xmlns:a16="http://schemas.microsoft.com/office/drawing/2014/main" id="{3AA46E37-72E1-112E-95B7-DB9575968985}"/>
              </a:ext>
            </a:extLst>
          </p:cNvPr>
          <p:cNvSpPr>
            <a:spLocks noGrp="1"/>
          </p:cNvSpPr>
          <p:nvPr>
            <p:ph idx="1"/>
          </p:nvPr>
        </p:nvSpPr>
        <p:spPr/>
        <p:txBody>
          <a:bodyPr>
            <a:normAutofit/>
          </a:bodyPr>
          <a:lstStyle/>
          <a:p>
            <a:pPr algn="just"/>
            <a:r>
              <a:rPr lang="el-GR" sz="2800" dirty="0">
                <a:effectLst/>
                <a:latin typeface="Calibri" panose="020F0502020204030204" pitchFamily="34" charset="0"/>
                <a:ea typeface="Times New Roman" panose="02020603050405020304" pitchFamily="18" charset="0"/>
                <a:cs typeface="Times New Roman" panose="02020603050405020304" pitchFamily="18" charset="0"/>
              </a:rPr>
              <a:t>Η χρήση λανθασμένων δεδομένων που καταλήγουν σε προκατάληψη των αλγορίθμων και σε εσφαλμένες αποφάσεις.</a:t>
            </a:r>
            <a:endParaRPr lang="el-GR" sz="2800" dirty="0"/>
          </a:p>
        </p:txBody>
      </p:sp>
    </p:spTree>
    <p:extLst>
      <p:ext uri="{BB962C8B-B14F-4D97-AF65-F5344CB8AC3E}">
        <p14:creationId xmlns:p14="http://schemas.microsoft.com/office/powerpoint/2010/main" val="32207335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4F7A945-A935-D2E0-25FA-35A255A17A10}"/>
              </a:ext>
            </a:extLst>
          </p:cNvPr>
          <p:cNvSpPr>
            <a:spLocks noGrp="1"/>
          </p:cNvSpPr>
          <p:nvPr>
            <p:ph type="title"/>
          </p:nvPr>
        </p:nvSpPr>
        <p:spPr/>
        <p:txBody>
          <a:bodyPr/>
          <a:lstStyle/>
          <a:p>
            <a:pPr algn="ctr"/>
            <a:r>
              <a:rPr lang="el-GR" sz="4400" dirty="0" err="1">
                <a:effectLst/>
                <a:latin typeface="Calibri" panose="020F0502020204030204" pitchFamily="34" charset="0"/>
                <a:ea typeface="Times New Roman" panose="02020603050405020304" pitchFamily="18" charset="0"/>
                <a:cs typeface="Times New Roman" panose="02020603050405020304" pitchFamily="18" charset="0"/>
              </a:rPr>
              <a:t>Unfair</a:t>
            </a:r>
            <a:r>
              <a:rPr lang="el-GR" sz="4400" dirty="0">
                <a:effectLst/>
                <a:latin typeface="Calibri" panose="020F0502020204030204" pitchFamily="34" charset="0"/>
                <a:ea typeface="Times New Roman" panose="02020603050405020304" pitchFamily="18" charset="0"/>
                <a:cs typeface="Times New Roman" panose="02020603050405020304" pitchFamily="18" charset="0"/>
              </a:rPr>
              <a:t> </a:t>
            </a:r>
            <a:r>
              <a:rPr lang="el-GR" sz="4400" dirty="0" err="1">
                <a:effectLst/>
                <a:latin typeface="Calibri" panose="020F0502020204030204" pitchFamily="34" charset="0"/>
                <a:ea typeface="Times New Roman" panose="02020603050405020304" pitchFamily="18" charset="0"/>
                <a:cs typeface="Times New Roman" panose="02020603050405020304" pitchFamily="18" charset="0"/>
              </a:rPr>
              <a:t>Outcomes</a:t>
            </a:r>
            <a:endParaRPr lang="el-GR" sz="4400" dirty="0"/>
          </a:p>
        </p:txBody>
      </p:sp>
      <p:sp>
        <p:nvSpPr>
          <p:cNvPr id="3" name="Θέση περιεχομένου 2">
            <a:extLst>
              <a:ext uri="{FF2B5EF4-FFF2-40B4-BE49-F238E27FC236}">
                <a16:creationId xmlns:a16="http://schemas.microsoft.com/office/drawing/2014/main" id="{EF2CBC8E-2E29-1961-14C6-E5FD3AF6E20C}"/>
              </a:ext>
            </a:extLst>
          </p:cNvPr>
          <p:cNvSpPr>
            <a:spLocks noGrp="1"/>
          </p:cNvSpPr>
          <p:nvPr>
            <p:ph idx="1"/>
          </p:nvPr>
        </p:nvSpPr>
        <p:spPr/>
        <p:txBody>
          <a:bodyPr>
            <a:normAutofit/>
          </a:bodyPr>
          <a:lstStyle/>
          <a:p>
            <a:pPr algn="just"/>
            <a:r>
              <a:rPr lang="el-GR" sz="2800" dirty="0">
                <a:effectLst/>
                <a:latin typeface="Calibri" panose="020F0502020204030204" pitchFamily="34" charset="0"/>
                <a:ea typeface="Times New Roman" panose="02020603050405020304" pitchFamily="18" charset="0"/>
                <a:cs typeface="Times New Roman" panose="02020603050405020304" pitchFamily="18" charset="0"/>
              </a:rPr>
              <a:t>Η προκατάληψη και άδικη μεταχείριση εις βάρος ορισμένων κοινωνικών ομάδων εξαιτίας των αλγοριθμικών αποφάσεων.</a:t>
            </a:r>
            <a:endParaRPr lang="el-GR" sz="2800" dirty="0"/>
          </a:p>
        </p:txBody>
      </p:sp>
    </p:spTree>
    <p:extLst>
      <p:ext uri="{BB962C8B-B14F-4D97-AF65-F5344CB8AC3E}">
        <p14:creationId xmlns:p14="http://schemas.microsoft.com/office/powerpoint/2010/main" val="3082801545"/>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0263BEA-3A34-129F-F936-963F1AB90859}"/>
              </a:ext>
            </a:extLst>
          </p:cNvPr>
          <p:cNvSpPr>
            <a:spLocks noGrp="1"/>
          </p:cNvSpPr>
          <p:nvPr>
            <p:ph type="title"/>
          </p:nvPr>
        </p:nvSpPr>
        <p:spPr/>
        <p:txBody>
          <a:bodyPr/>
          <a:lstStyle/>
          <a:p>
            <a:pPr algn="ctr"/>
            <a:r>
              <a:rPr lang="el-GR" sz="4400" dirty="0" err="1">
                <a:effectLst/>
                <a:latin typeface="Calibri" panose="020F0502020204030204" pitchFamily="34" charset="0"/>
                <a:ea typeface="Times New Roman" panose="02020603050405020304" pitchFamily="18" charset="0"/>
                <a:cs typeface="Times New Roman" panose="02020603050405020304" pitchFamily="18" charset="0"/>
              </a:rPr>
              <a:t>Transformative</a:t>
            </a:r>
            <a:r>
              <a:rPr lang="el-GR" sz="4400" dirty="0">
                <a:effectLst/>
                <a:latin typeface="Calibri" panose="020F0502020204030204" pitchFamily="34" charset="0"/>
                <a:ea typeface="Times New Roman" panose="02020603050405020304" pitchFamily="18" charset="0"/>
                <a:cs typeface="Times New Roman" panose="02020603050405020304" pitchFamily="18" charset="0"/>
              </a:rPr>
              <a:t> </a:t>
            </a:r>
            <a:r>
              <a:rPr lang="el-GR" sz="4400" dirty="0" err="1">
                <a:effectLst/>
                <a:latin typeface="Calibri" panose="020F0502020204030204" pitchFamily="34" charset="0"/>
                <a:ea typeface="Times New Roman" panose="02020603050405020304" pitchFamily="18" charset="0"/>
                <a:cs typeface="Times New Roman" panose="02020603050405020304" pitchFamily="18" charset="0"/>
              </a:rPr>
              <a:t>Effects</a:t>
            </a:r>
            <a:endParaRPr lang="el-GR" sz="4400" dirty="0"/>
          </a:p>
        </p:txBody>
      </p:sp>
      <p:sp>
        <p:nvSpPr>
          <p:cNvPr id="3" name="Θέση περιεχομένου 2">
            <a:extLst>
              <a:ext uri="{FF2B5EF4-FFF2-40B4-BE49-F238E27FC236}">
                <a16:creationId xmlns:a16="http://schemas.microsoft.com/office/drawing/2014/main" id="{A35D4D69-EA62-2233-427B-7A2457EC0130}"/>
              </a:ext>
            </a:extLst>
          </p:cNvPr>
          <p:cNvSpPr>
            <a:spLocks noGrp="1"/>
          </p:cNvSpPr>
          <p:nvPr>
            <p:ph idx="1"/>
          </p:nvPr>
        </p:nvSpPr>
        <p:spPr/>
        <p:txBody>
          <a:bodyPr>
            <a:normAutofit/>
          </a:bodyPr>
          <a:lstStyle/>
          <a:p>
            <a:pPr algn="just"/>
            <a:r>
              <a:rPr lang="el-GR" sz="2800" dirty="0">
                <a:effectLst/>
                <a:latin typeface="Calibri" panose="020F0502020204030204" pitchFamily="34" charset="0"/>
                <a:ea typeface="Times New Roman" panose="02020603050405020304" pitchFamily="18" charset="0"/>
                <a:cs typeface="Times New Roman" panose="02020603050405020304" pitchFamily="18" charset="0"/>
              </a:rPr>
              <a:t>Οι απρόβλεπτες επιπτώσεις που μπορεί να έχουν οι αλγόριθμοι εις βάρος των χρηστών τους, κυρίως στην αυτονομία τους και στην </a:t>
            </a:r>
            <a:r>
              <a:rPr lang="el-GR" sz="2800" dirty="0" err="1">
                <a:effectLst/>
                <a:latin typeface="Calibri" panose="020F0502020204030204" pitchFamily="34" charset="0"/>
                <a:ea typeface="Times New Roman" panose="02020603050405020304" pitchFamily="18" charset="0"/>
                <a:cs typeface="Times New Roman" panose="02020603050405020304" pitchFamily="18" charset="0"/>
              </a:rPr>
              <a:t>ιδιωτικότητας</a:t>
            </a:r>
            <a:r>
              <a:rPr lang="el-GR" sz="2800" dirty="0">
                <a:effectLst/>
                <a:latin typeface="Calibri" panose="020F0502020204030204" pitchFamily="34" charset="0"/>
                <a:ea typeface="Times New Roman" panose="02020603050405020304" pitchFamily="18" charset="0"/>
                <a:cs typeface="Times New Roman" panose="02020603050405020304" pitchFamily="18" charset="0"/>
              </a:rPr>
              <a:t> τους.</a:t>
            </a:r>
            <a:endParaRPr lang="el-GR" sz="2800" dirty="0"/>
          </a:p>
        </p:txBody>
      </p:sp>
    </p:spTree>
    <p:extLst>
      <p:ext uri="{BB962C8B-B14F-4D97-AF65-F5344CB8AC3E}">
        <p14:creationId xmlns:p14="http://schemas.microsoft.com/office/powerpoint/2010/main" val="589241049"/>
      </p:ext>
    </p:extLst>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140D696-6F03-463E-47B9-B2DA3A516274}"/>
              </a:ext>
            </a:extLst>
          </p:cNvPr>
          <p:cNvSpPr>
            <a:spLocks noGrp="1"/>
          </p:cNvSpPr>
          <p:nvPr>
            <p:ph type="title"/>
          </p:nvPr>
        </p:nvSpPr>
        <p:spPr/>
        <p:txBody>
          <a:bodyPr/>
          <a:lstStyle/>
          <a:p>
            <a:pPr algn="ctr"/>
            <a:r>
              <a:rPr lang="el-GR" sz="4400" dirty="0" err="1">
                <a:effectLst/>
                <a:latin typeface="Calibri" panose="020F0502020204030204" pitchFamily="34" charset="0"/>
                <a:ea typeface="Times New Roman" panose="02020603050405020304" pitchFamily="18" charset="0"/>
                <a:cs typeface="Times New Roman" panose="02020603050405020304" pitchFamily="18" charset="0"/>
              </a:rPr>
              <a:t>Traceability</a:t>
            </a:r>
            <a:endParaRPr lang="el-GR" sz="4400" dirty="0"/>
          </a:p>
        </p:txBody>
      </p:sp>
      <p:sp>
        <p:nvSpPr>
          <p:cNvPr id="3" name="Θέση περιεχομένου 2">
            <a:extLst>
              <a:ext uri="{FF2B5EF4-FFF2-40B4-BE49-F238E27FC236}">
                <a16:creationId xmlns:a16="http://schemas.microsoft.com/office/drawing/2014/main" id="{97A4EEB4-E479-1C4F-BE6F-C797AD63D8B8}"/>
              </a:ext>
            </a:extLst>
          </p:cNvPr>
          <p:cNvSpPr>
            <a:spLocks noGrp="1"/>
          </p:cNvSpPr>
          <p:nvPr>
            <p:ph idx="1"/>
          </p:nvPr>
        </p:nvSpPr>
        <p:spPr/>
        <p:txBody>
          <a:bodyPr>
            <a:normAutofit/>
          </a:bodyPr>
          <a:lstStyle/>
          <a:p>
            <a:pPr algn="just"/>
            <a:r>
              <a:rPr lang="el-GR" sz="2800" dirty="0">
                <a:effectLst/>
                <a:latin typeface="Calibri" panose="020F0502020204030204" pitchFamily="34" charset="0"/>
                <a:ea typeface="Times New Roman" panose="02020603050405020304" pitchFamily="18" charset="0"/>
                <a:cs typeface="Times New Roman" panose="02020603050405020304" pitchFamily="18" charset="0"/>
              </a:rPr>
              <a:t>Η δυσκολία εντοπισμού της προέλευσης και ευθύνης των αποφάσεων των αλγορίθμων, εξαιτίας της πολυπλοκότητας, έλλειψης διαφάνειας τους και συχνά στην έλλειψη νομοθεσίας.</a:t>
            </a:r>
            <a:endParaRPr lang="el-GR" sz="2800" dirty="0"/>
          </a:p>
        </p:txBody>
      </p:sp>
    </p:spTree>
    <p:extLst>
      <p:ext uri="{BB962C8B-B14F-4D97-AF65-F5344CB8AC3E}">
        <p14:creationId xmlns:p14="http://schemas.microsoft.com/office/powerpoint/2010/main" val="65155222"/>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BEAD71C-45FC-E337-9665-A7ABD33F24D7}"/>
              </a:ext>
            </a:extLst>
          </p:cNvPr>
          <p:cNvSpPr>
            <a:spLocks noGrp="1"/>
          </p:cNvSpPr>
          <p:nvPr>
            <p:ph type="title"/>
          </p:nvPr>
        </p:nvSpPr>
        <p:spPr/>
        <p:txBody>
          <a:bodyPr/>
          <a:lstStyle/>
          <a:p>
            <a:pPr algn="ctr"/>
            <a:r>
              <a:rPr lang="el-GR" sz="4400" dirty="0"/>
              <a:t>Συμπεράσματα</a:t>
            </a:r>
          </a:p>
        </p:txBody>
      </p:sp>
      <p:sp>
        <p:nvSpPr>
          <p:cNvPr id="3" name="Θέση περιεχομένου 2">
            <a:extLst>
              <a:ext uri="{FF2B5EF4-FFF2-40B4-BE49-F238E27FC236}">
                <a16:creationId xmlns:a16="http://schemas.microsoft.com/office/drawing/2014/main" id="{732DF2AF-2673-EFEE-1B83-7B274C5EB68D}"/>
              </a:ext>
            </a:extLst>
          </p:cNvPr>
          <p:cNvSpPr>
            <a:spLocks noGrp="1"/>
          </p:cNvSpPr>
          <p:nvPr>
            <p:ph idx="1"/>
          </p:nvPr>
        </p:nvSpPr>
        <p:spPr/>
        <p:txBody>
          <a:bodyPr/>
          <a:lstStyle/>
          <a:p>
            <a:pPr algn="just"/>
            <a:r>
              <a:rPr lang="el-GR" sz="2800" dirty="0">
                <a:effectLst/>
                <a:latin typeface="Calibri" panose="020F0502020204030204" pitchFamily="34" charset="0"/>
                <a:ea typeface="Times New Roman" panose="02020603050405020304" pitchFamily="18" charset="0"/>
                <a:cs typeface="Times New Roman" panose="02020603050405020304" pitchFamily="18" charset="0"/>
              </a:rPr>
              <a:t>Η χρήση των αλγορίθμων και των τεχνολογιών της τεχνητής νοημοσύνης απαιτεί συνεχείς επιβλέψεις, αναλύσεις και διαβουλεύσεις. Η διαρκής παρακολούθηση και αναθεώρηση της νομοθεσίας και των ηθικών κατευθυντήριων γραμμών είναι ζωτικής σημασίας προκειμένου να αντιμετωπιστούν οι επικίνδυνες επιπτώσεις των αλγορίθμων και παράλληλα να εφαρμοστούν για το κοινό καλό.  </a:t>
            </a:r>
          </a:p>
          <a:p>
            <a:endParaRPr lang="el-GR" dirty="0"/>
          </a:p>
        </p:txBody>
      </p:sp>
    </p:spTree>
    <p:extLst>
      <p:ext uri="{BB962C8B-B14F-4D97-AF65-F5344CB8AC3E}">
        <p14:creationId xmlns:p14="http://schemas.microsoft.com/office/powerpoint/2010/main" val="2548010634"/>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51AFC80-6B89-F8B6-3E82-57D30756C27C}"/>
              </a:ext>
            </a:extLst>
          </p:cNvPr>
          <p:cNvSpPr>
            <a:spLocks noGrp="1"/>
          </p:cNvSpPr>
          <p:nvPr>
            <p:ph type="title"/>
          </p:nvPr>
        </p:nvSpPr>
        <p:spPr/>
        <p:txBody>
          <a:bodyPr/>
          <a:lstStyle/>
          <a:p>
            <a:endParaRPr lang="el-GR"/>
          </a:p>
        </p:txBody>
      </p:sp>
      <p:sp>
        <p:nvSpPr>
          <p:cNvPr id="3" name="Θέση περιεχομένου 2">
            <a:extLst>
              <a:ext uri="{FF2B5EF4-FFF2-40B4-BE49-F238E27FC236}">
                <a16:creationId xmlns:a16="http://schemas.microsoft.com/office/drawing/2014/main" id="{F51735DC-F0BE-E8A2-B0CA-9B919FF62F8B}"/>
              </a:ext>
            </a:extLst>
          </p:cNvPr>
          <p:cNvSpPr>
            <a:spLocks noGrp="1"/>
          </p:cNvSpPr>
          <p:nvPr>
            <p:ph idx="1"/>
          </p:nvPr>
        </p:nvSpPr>
        <p:spPr>
          <a:xfrm>
            <a:off x="1103312" y="3051959"/>
            <a:ext cx="8946541" cy="3196440"/>
          </a:xfrm>
        </p:spPr>
        <p:txBody>
          <a:bodyPr>
            <a:normAutofit/>
          </a:bodyPr>
          <a:lstStyle/>
          <a:p>
            <a:pPr marL="0" indent="0" algn="ctr">
              <a:buNone/>
            </a:pPr>
            <a:r>
              <a:rPr lang="el-GR" sz="3200" dirty="0"/>
              <a:t>ΕΥΧΑΡΙΣΤΟΥΜΕ ΓΙΑ ΤΟΝ ΧΡΟΝΟ ΣΑΣ</a:t>
            </a:r>
          </a:p>
        </p:txBody>
      </p:sp>
    </p:spTree>
    <p:extLst>
      <p:ext uri="{BB962C8B-B14F-4D97-AF65-F5344CB8AC3E}">
        <p14:creationId xmlns:p14="http://schemas.microsoft.com/office/powerpoint/2010/main" val="15345625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Ιόν">
  <a:themeElements>
    <a:clrScheme name="Ιόν">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Ιόν">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Ιόν">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20</TotalTime>
  <Words>316</Words>
  <Application>Microsoft Office PowerPoint</Application>
  <PresentationFormat>Ευρεία οθόνη</PresentationFormat>
  <Paragraphs>29</Paragraphs>
  <Slides>11</Slides>
  <Notes>0</Notes>
  <HiddenSlides>0</HiddenSlides>
  <MMClips>0</MMClips>
  <ScaleCrop>false</ScaleCrop>
  <HeadingPairs>
    <vt:vector size="6" baseType="variant">
      <vt:variant>
        <vt:lpstr>Γραμματοσειρές που χρησιμοποιούνται</vt:lpstr>
      </vt:variant>
      <vt:variant>
        <vt:i4>4</vt:i4>
      </vt:variant>
      <vt:variant>
        <vt:lpstr>Θέμα</vt:lpstr>
      </vt:variant>
      <vt:variant>
        <vt:i4>1</vt:i4>
      </vt:variant>
      <vt:variant>
        <vt:lpstr>Τίτλοι διαφανειών</vt:lpstr>
      </vt:variant>
      <vt:variant>
        <vt:i4>11</vt:i4>
      </vt:variant>
    </vt:vector>
  </HeadingPairs>
  <TitlesOfParts>
    <vt:vector size="16" baseType="lpstr">
      <vt:lpstr>Calibri</vt:lpstr>
      <vt:lpstr>Century Gothic</vt:lpstr>
      <vt:lpstr>Symbol</vt:lpstr>
      <vt:lpstr>Wingdings 3</vt:lpstr>
      <vt:lpstr>Ιόν</vt:lpstr>
      <vt:lpstr>The ethics of algorithms: key problems and solutions</vt:lpstr>
      <vt:lpstr>Εισαγωγή</vt:lpstr>
      <vt:lpstr>Ηθικές ανησυχίες από τους αλγορίθμους. </vt:lpstr>
      <vt:lpstr>Inconclusive Evidence</vt:lpstr>
      <vt:lpstr>Instructable Evidence</vt:lpstr>
      <vt:lpstr>Misguided Evidence</vt:lpstr>
      <vt:lpstr>Unfair Outcomes</vt:lpstr>
      <vt:lpstr>Transformative Effects</vt:lpstr>
      <vt:lpstr>Traceability</vt:lpstr>
      <vt:lpstr>Συμπεράσματα</vt:lpstr>
      <vt:lpstr>Παρουσίαση του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ethics of algorithms: key problems and solutions</dc:title>
  <dc:creator>PAXIMADIS KONSTANTINOS</dc:creator>
  <cp:lastModifiedBy>ΑΝΑΣΤΑΣΙΟΥ ΧΑΡΑΛΑΜΠΟΣ</cp:lastModifiedBy>
  <cp:revision>5</cp:revision>
  <dcterms:created xsi:type="dcterms:W3CDTF">2024-04-29T15:09:24Z</dcterms:created>
  <dcterms:modified xsi:type="dcterms:W3CDTF">2024-05-08T18:52:32Z</dcterms:modified>
</cp:coreProperties>
</file>